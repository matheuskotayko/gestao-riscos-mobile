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Times New Roman" charset="1" panose="02020603050405020304"/>
      <p:regular r:id="rId39"/>
    </p:embeddedFont>
    <p:embeddedFont>
      <p:font typeface="Times New Roman Bold" charset="1" panose="02020803070505020304"/>
      <p:regular r:id="rId40"/>
    </p:embeddedFont>
    <p:embeddedFont>
      <p:font typeface="Times New Roman Italics" charset="1" panose="02020503050405090304"/>
      <p:regular r:id="rId41"/>
    </p:embeddedFont>
    <p:embeddedFont>
      <p:font typeface="Courier New" charset="1" panose="020703090202050204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notesMaster" Target="notesMasters/notesMaster1.xml"/><Relationship Id="rId37" Type="http://schemas.openxmlformats.org/officeDocument/2006/relationships/theme" Target="theme/theme2.xml"/><Relationship Id="rId38" Type="http://schemas.openxmlformats.org/officeDocument/2006/relationships/notesSlide" Target="notesSlides/notesSlide1.xml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notesSlide" Target="notesSlides/notesSlide2.xml"/><Relationship Id="rId43" Type="http://schemas.openxmlformats.org/officeDocument/2006/relationships/font" Target="fonts/font43.fntdata"/><Relationship Id="rId44" Type="http://schemas.openxmlformats.org/officeDocument/2006/relationships/notesSlide" Target="notesSlides/notesSlide3.xml"/><Relationship Id="rId45" Type="http://schemas.openxmlformats.org/officeDocument/2006/relationships/notesSlide" Target="notesSlides/notesSlide4.xml"/><Relationship Id="rId46" Type="http://schemas.openxmlformats.org/officeDocument/2006/relationships/notesSlide" Target="notesSlides/notesSlide5.xml"/><Relationship Id="rId47" Type="http://schemas.openxmlformats.org/officeDocument/2006/relationships/notesSlide" Target="notesSlides/notesSlide6.xml"/><Relationship Id="rId48" Type="http://schemas.openxmlformats.org/officeDocument/2006/relationships/notesSlide" Target="notesSlides/notesSlide7.xml"/><Relationship Id="rId49" Type="http://schemas.openxmlformats.org/officeDocument/2006/relationships/notesSlide" Target="notesSlides/notesSlide8.xml"/><Relationship Id="rId50" Type="http://schemas.openxmlformats.org/officeDocument/2006/relationships/notesSlide" Target="notesSlides/notesSlide9.xml"/><Relationship Id="rId51" Type="http://schemas.openxmlformats.org/officeDocument/2006/relationships/notesSlide" Target="notesSlides/notesSlide10.xml"/><Relationship Id="rId52" Type="http://schemas.openxmlformats.org/officeDocument/2006/relationships/notesSlide" Target="notesSlides/notesSlide11.xml"/><Relationship Id="rId53" Type="http://schemas.openxmlformats.org/officeDocument/2006/relationships/notesSlide" Target="notesSlides/notesSlide12.xml"/><Relationship Id="rId54" Type="http://schemas.openxmlformats.org/officeDocument/2006/relationships/notesSlide" Target="notesSlides/notesSlide13.xml"/><Relationship Id="rId55" Type="http://schemas.openxmlformats.org/officeDocument/2006/relationships/notesSlide" Target="notesSlides/notesSlide14.xml"/><Relationship Id="rId56" Type="http://schemas.openxmlformats.org/officeDocument/2006/relationships/notesSlide" Target="notesSlides/notes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matheuskotayko/gestao-riscos-ufsm" TargetMode="External"/><Relationship Id="rId4" Type="http://schemas.openxmlformats.org/officeDocument/2006/relationships/hyperlink" Target="https://portal.ufsm.br/projetos/publico/projetos/view.html?idProjeto=429407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image" Target="../media/image1.png"/><Relationship Id="rId6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eg"/><Relationship Id="rId4" Type="http://schemas.openxmlformats.org/officeDocument/2006/relationships/image" Target="../media/image15.jpeg"/><Relationship Id="rId5" Type="http://schemas.openxmlformats.org/officeDocument/2006/relationships/image" Target="../media/image1.png"/><Relationship Id="rId6" Type="http://schemas.openxmlformats.org/officeDocument/2006/relationships/image" Target="../media/image2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eg"/><Relationship Id="rId4" Type="http://schemas.openxmlformats.org/officeDocument/2006/relationships/image" Target="../media/image1.png"/><Relationship Id="rId5" Type="http://schemas.openxmlformats.org/officeDocument/2006/relationships/image" Target="../media/image2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jpeg"/><Relationship Id="rId4" Type="http://schemas.openxmlformats.org/officeDocument/2006/relationships/image" Target="../media/image23.jpeg"/><Relationship Id="rId5" Type="http://schemas.openxmlformats.org/officeDocument/2006/relationships/image" Target="../media/image1.png"/><Relationship Id="rId6" Type="http://schemas.openxmlformats.org/officeDocument/2006/relationships/image" Target="../media/image2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youtube.com/watch?v=RlIhW3jaSik" TargetMode="External"/><Relationship Id="rId4" Type="http://schemas.openxmlformats.org/officeDocument/2006/relationships/image" Target="../media/image25.jpeg"/><Relationship Id="rId5" Type="http://schemas.openxmlformats.org/officeDocument/2006/relationships/image" Target="../media/image1.png"/><Relationship Id="rId6" Type="http://schemas.openxmlformats.org/officeDocument/2006/relationships/image" Target="../media/image2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matheuskotayko/gestao-riscos-ufsm" TargetMode="External"/><Relationship Id="rId4" Type="http://schemas.openxmlformats.org/officeDocument/2006/relationships/hyperlink" Target="https://github.com/matheuskotayko/gestao-riscos-mobile" TargetMode="External"/><Relationship Id="rId5" Type="http://schemas.openxmlformats.org/officeDocument/2006/relationships/hyperlink" Target="https://portal.ufsm.br/projetos/publico/projetos/view.html?idProjeto=429407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0431" y="835123"/>
            <a:ext cx="13955678" cy="200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sz="27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UNIVERSIDADE FEDERAL DE SANTA MARIA</a:t>
            </a:r>
          </a:p>
          <a:p>
            <a:pPr algn="ctr">
              <a:lnSpc>
                <a:spcPts val="4863"/>
              </a:lnSpc>
            </a:pPr>
            <a:r>
              <a:rPr lang="en-US" sz="27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COLÉGIO POLITÉCNICO DA UFSM</a:t>
            </a:r>
          </a:p>
          <a:p>
            <a:pPr algn="ctr">
              <a:lnSpc>
                <a:spcPts val="4863"/>
              </a:lnSpc>
            </a:pPr>
            <a:r>
              <a:rPr lang="en-US" sz="27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CURSO SUPERIOR DE TECNOLOGIA EM SISTEMAS PARA INTERNET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73157" y="3139352"/>
            <a:ext cx="13955497" cy="63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sz="27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MATHEUS GABRIEL FLECK DE MELLO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0431" y="4297913"/>
            <a:ext cx="13955678" cy="84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5"/>
              </a:lnSpc>
            </a:pPr>
            <a:r>
              <a:rPr lang="en-US" b="true" sz="39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GESTÃO DE RISCO — APLICATIVO  MOBILE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60703" y="5800725"/>
            <a:ext cx="8198597" cy="121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2"/>
              </a:lnSpc>
            </a:pPr>
            <a:r>
              <a:rPr lang="en-US" sz="1801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Apresentação referente à disciplina de Programação para Dispositivos Móveis, do Curso Superior de Tecnologia em Sistemas para Internet, da Universidade Federal de Santa Maria, cursada em regime de autodidatismo.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0431" y="8952938"/>
            <a:ext cx="13955678" cy="88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Santa Maria, RS</a:t>
            </a:r>
          </a:p>
          <a:p>
            <a:pPr algn="ctr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064026" y="240192"/>
            <a:ext cx="5053373" cy="630488"/>
            <a:chOff x="0" y="0"/>
            <a:chExt cx="6737830" cy="8406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37831" cy="840613"/>
            </a:xfrm>
            <a:custGeom>
              <a:avLst/>
              <a:gdLst/>
              <a:ahLst/>
              <a:cxnLst/>
              <a:rect r="r" b="b" t="t" l="l"/>
              <a:pathLst>
                <a:path h="840613" w="6737831">
                  <a:moveTo>
                    <a:pt x="0" y="0"/>
                  </a:moveTo>
                  <a:lnTo>
                    <a:pt x="6737831" y="0"/>
                  </a:lnTo>
                  <a:lnTo>
                    <a:pt x="6737831" y="840613"/>
                  </a:lnTo>
                  <a:lnTo>
                    <a:pt x="0" y="840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537" r="0" b="-1054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348" cy="83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  CONTEXTO E ORIGINALIDADE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2293" y="2089575"/>
            <a:ext cx="16197348" cy="214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sistema web “Gestão de Risco UFSM” é um projeto autoral: foi desenvolvido durante a disciplina de engenharia de software 1, está registrado institucionalmente e está para entrar em produção na PROPLAN . Este trabalho é a sua extensão para Android — consumindo a mesma API REST, com paridade de papéis de acesso, adicionando o que somente um aplicativo nativo entrega: câmera, GPS e modo offline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284" y="4474083"/>
            <a:ext cx="16197348" cy="925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Repositório do sistema original: </a:t>
            </a:r>
          </a:p>
          <a:p>
            <a:pPr algn="just">
              <a:lnSpc>
                <a:spcPts val="3782"/>
              </a:lnSpc>
            </a:pPr>
            <a:r>
              <a:rPr lang="en-US" sz="2101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3" tooltip="https://github.com/matheuskotayko/gestao-riscos-ufsm"/>
              </a:rPr>
              <a:t>https://github.com/matheuskotayko/gestao-riscos-ufsm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284" y="5662889"/>
            <a:ext cx="16197348" cy="925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registrado — Portal de Projetos UFSM (</a:t>
            </a:r>
            <a:r>
              <a:rPr lang="en-US" b="true" sz="21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idProjeto 429407</a:t>
            </a: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 </a:t>
            </a:r>
          </a:p>
          <a:p>
            <a:pPr algn="just">
              <a:lnSpc>
                <a:spcPts val="3782"/>
              </a:lnSpc>
            </a:pPr>
            <a:r>
              <a:rPr lang="en-US" sz="2101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4" tooltip="https://portal.ufsm.br/projetos/publico/projetos/view.html?idProjeto=429407"/>
              </a:rPr>
              <a:t>https://portal.ufsm.br/projetos/publico/projetos/view.html?idProjeto=429407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348" cy="83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  MOTIVAÇÃO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2293" y="2089575"/>
            <a:ext cx="16197348" cy="105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problema real acontece longe da mesa: um risco é identificado em campo — num laboratório, em parte isolado do campus, num prédio administrativo — e o gestor precisa registrá-lo no local, sem depender de voltar ao computador.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293" y="4148585"/>
            <a:ext cx="16197348" cy="237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</a:t>
            </a:r>
            <a:r>
              <a:rPr lang="en-US" b="true" sz="24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Cadastro depende do computador</a:t>
            </a:r>
            <a:r>
              <a:rPr lang="en-US" sz="24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hoje o risco só é registrado quando o gestor volta à mesa</a:t>
            </a:r>
          </a:p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</a:t>
            </a:r>
            <a:r>
              <a:rPr lang="en-US" b="true" sz="24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Sem evidência fotográfica</a:t>
            </a:r>
            <a:r>
              <a:rPr lang="en-US" sz="24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 sistema web não tem como anexar foto tirada na hora</a:t>
            </a:r>
          </a:p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</a:t>
            </a:r>
            <a:r>
              <a:rPr lang="en-US" b="true" sz="24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Sem localização do risco</a:t>
            </a:r>
            <a:r>
              <a:rPr lang="en-US" sz="24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não é possível registrar onde, no campus, o problema foi visto</a:t>
            </a:r>
          </a:p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</a:t>
            </a:r>
            <a:r>
              <a:rPr lang="en-US" b="true" sz="24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Inútil sem conexão</a:t>
            </a:r>
            <a:r>
              <a:rPr lang="en-US" sz="24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diversas unidades não têm conexão sem fio estável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253" cy="10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  OBJETIVOS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2293" y="2099100"/>
            <a:ext cx="7641384" cy="60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3"/>
              </a:lnSpc>
            </a:pPr>
            <a:r>
              <a:rPr lang="en-US" b="true" sz="225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3.1 OBJETIVO GERAL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284" y="2785462"/>
            <a:ext cx="7768114" cy="202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3"/>
              </a:lnSpc>
            </a:pPr>
            <a:r>
              <a:rPr lang="en-US" sz="22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Portar a API REST do sistema web para um aplicativo Android nativo(Flutter/Dart), mantendo os três papéis de acesso do sistema original, com funcionamento sem conexão e uso de recursos exclusivos do aparelho.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62862" y="2099100"/>
            <a:ext cx="7641384" cy="60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3"/>
              </a:lnSpc>
            </a:pPr>
            <a:r>
              <a:rPr lang="en-US" b="true" sz="225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3.2 OBJETIVOS ESPECÍFICOS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08932" y="2794987"/>
            <a:ext cx="7641565" cy="3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Consumir a API REST via autenticação por token, sem duplicar regras de negócio</a:t>
            </a:r>
          </a:p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Implementar cache local e fila de sincronização com resolução de conflito</a:t>
            </a:r>
          </a:p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Capturar GPS e resolver o endereço por geocodificação reversa</a:t>
            </a:r>
          </a:p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Anexar foto de evidência pela câmera, com envio a um repositório de objetos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348" cy="83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  MODELAGEM DE DADOS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336650" y="2738199"/>
            <a:ext cx="10007356" cy="5752071"/>
            <a:chOff x="0" y="0"/>
            <a:chExt cx="13343141" cy="7669428"/>
          </a:xfrm>
        </p:grpSpPr>
        <p:sp>
          <p:nvSpPr>
            <p:cNvPr name="Freeform 5" id="5" descr="modelo-conceitual.png"/>
            <p:cNvSpPr/>
            <p:nvPr/>
          </p:nvSpPr>
          <p:spPr>
            <a:xfrm flipH="false" flipV="false" rot="0">
              <a:off x="0" y="0"/>
              <a:ext cx="13343128" cy="7669403"/>
            </a:xfrm>
            <a:custGeom>
              <a:avLst/>
              <a:gdLst/>
              <a:ahLst/>
              <a:cxnLst/>
              <a:rect r="r" b="b" t="t" l="l"/>
              <a:pathLst>
                <a:path h="7669403" w="13343128">
                  <a:moveTo>
                    <a:pt x="0" y="0"/>
                  </a:moveTo>
                  <a:lnTo>
                    <a:pt x="13343128" y="0"/>
                  </a:lnTo>
                  <a:lnTo>
                    <a:pt x="13343128" y="7669403"/>
                  </a:lnTo>
                  <a:lnTo>
                    <a:pt x="0" y="7669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435225" y="2250376"/>
            <a:ext cx="9810207" cy="36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Figura 1 – Modelo conceitual (MER)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343794" y="8609733"/>
            <a:ext cx="9993058" cy="29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2108597"/>
            <a:ext cx="5902490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4.1 MODELO CONCEITUAL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2737780"/>
            <a:ext cx="5902490" cy="334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recorte do domínio que o aplicativo consome, na notação de Chen (1976);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dez entidades: risco, setor, usuário, plano de ação, monitoramento, histórico, desafio, objetivo, macroprocesso e código de recuperação;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relação N:N entre usuário e setor, que define a permissão de escrita;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o risco concentra os vínculos: setor, objetivo do PDI e macroprocesso.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348" cy="83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  MODELAGEM DE DADOS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26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7435225" y="2250376"/>
            <a:ext cx="9810207" cy="36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Figura 2 – Modelo lógico (DER)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343794" y="8609733"/>
            <a:ext cx="9993058" cy="29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2108597"/>
            <a:ext cx="5902490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4.2 MODELO LÓGICO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2737780"/>
            <a:ext cx="5902490" cy="334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esquema relacional derivado das migrations do Django;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chave primária em todas as tabelas e UUID público nos recursos expostos pela API, preservando o identificador interno;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tabela associativa usuario_setores para a relação N:N;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exclusão lógica por campo ativo, sem remoção física de registro;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e) no celular, o mesmo recorte é espelhado em tabelas SQLite de cache.</a:t>
            </a:r>
          </a:p>
        </p:txBody>
      </p:sp>
      <p:pic>
        <p:nvPicPr>
          <p:cNvPr id="15" name="Picture 14" descr="modelo-logi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424" y="2699413"/>
            <a:ext cx="8397807" cy="581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253" cy="10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  ARQUITETURA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736353" y="2177224"/>
            <a:ext cx="5627951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5.1 VISÃO GERAL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36353" y="2806408"/>
            <a:ext cx="5627951" cy="260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o aplicativo conversa apenas com a API, por HTTPS, com o JWT no cabeçalho Bearer;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sistema web e aplicativo consomem a mesma API e as mesmas regras de acesso;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SQLite, Keystore, GPS e câmera ficam no aparelho;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o backend sobe com Docker Compose: banco, API, armazenamento de objetos e massa de demonstração.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2204676"/>
            <a:ext cx="1043231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3 – Visão geral do sistema com o aplicativo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2662980"/>
            <a:ext cx="10432313" cy="3268790"/>
            <a:chOff x="0" y="0"/>
            <a:chExt cx="13909751" cy="4358386"/>
          </a:xfrm>
        </p:grpSpPr>
        <p:sp>
          <p:nvSpPr>
            <p:cNvPr name="Freeform 13" id="13" descr="arquitetura-sistema.png"/>
            <p:cNvSpPr/>
            <p:nvPr/>
          </p:nvSpPr>
          <p:spPr>
            <a:xfrm flipH="false" flipV="false" rot="0">
              <a:off x="0" y="0"/>
              <a:ext cx="13909802" cy="4358386"/>
            </a:xfrm>
            <a:custGeom>
              <a:avLst/>
              <a:gdLst/>
              <a:ahLst/>
              <a:cxnLst/>
              <a:rect r="r" b="b" t="t" l="l"/>
              <a:pathLst>
                <a:path h="4358386" w="13909802">
                  <a:moveTo>
                    <a:pt x="0" y="0"/>
                  </a:moveTo>
                  <a:lnTo>
                    <a:pt x="13909802" y="0"/>
                  </a:lnTo>
                  <a:lnTo>
                    <a:pt x="13909802" y="4358386"/>
                  </a:lnTo>
                  <a:lnTo>
                    <a:pt x="0" y="4358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0872" y="6022543"/>
            <a:ext cx="10432313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  ARQUITETURA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60872" y="2108597"/>
            <a:ext cx="823603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5.2 CAMADAS DO APLICATIVO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2794930"/>
            <a:ext cx="15923000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4 – Camadas do aplicativo e pastas correspondentes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6774" y="3253235"/>
            <a:ext cx="15923000" cy="5573049"/>
            <a:chOff x="0" y="0"/>
            <a:chExt cx="21230666" cy="7430732"/>
          </a:xfrm>
        </p:grpSpPr>
        <p:sp>
          <p:nvSpPr>
            <p:cNvPr name="Freeform 7" id="7" descr="arquitetura-camadas.png"/>
            <p:cNvSpPr/>
            <p:nvPr/>
          </p:nvSpPr>
          <p:spPr>
            <a:xfrm flipH="false" flipV="false" rot="0">
              <a:off x="0" y="0"/>
              <a:ext cx="21230717" cy="7430770"/>
            </a:xfrm>
            <a:custGeom>
              <a:avLst/>
              <a:gdLst/>
              <a:ahLst/>
              <a:cxnLst/>
              <a:rect r="r" b="b" t="t" l="l"/>
              <a:pathLst>
                <a:path h="7430770" w="21230717">
                  <a:moveTo>
                    <a:pt x="0" y="0"/>
                  </a:moveTo>
                  <a:lnTo>
                    <a:pt x="21230717" y="0"/>
                  </a:lnTo>
                  <a:lnTo>
                    <a:pt x="21230717" y="7430770"/>
                  </a:lnTo>
                  <a:lnTo>
                    <a:pt x="0" y="743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6774" y="8917048"/>
            <a:ext cx="15923000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  ARQUITETURA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461813" y="2177224"/>
            <a:ext cx="5902490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5.3 ORGANIZAÇÃO DO CÓDIGO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61813" y="2806408"/>
            <a:ext cx="5902490" cy="223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66 arquivos Dart, com cerca de 9,6 mil linhas;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core/: infraestrutura comum a todas as telas;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data/: modelos, acesso à API, SQLite, repositório e sincronização;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features/: uma pasta por funcionalidade, com as telas;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e) test/: 20 arquivos com 82 casos, espelhando lib/.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872" y="2204676"/>
            <a:ext cx="10157774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5 – Estrutura de pastas de lib/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662980"/>
            <a:ext cx="10157774" cy="5939714"/>
            <a:chOff x="0" y="0"/>
            <a:chExt cx="13543699" cy="7919618"/>
          </a:xfrm>
        </p:grpSpPr>
        <p:sp>
          <p:nvSpPr>
            <p:cNvPr name="Freeform 8" id="8" descr="estrutura-pastas.png"/>
            <p:cNvSpPr/>
            <p:nvPr/>
          </p:nvSpPr>
          <p:spPr>
            <a:xfrm flipH="false" flipV="false" rot="0">
              <a:off x="0" y="0"/>
              <a:ext cx="13543662" cy="7919593"/>
            </a:xfrm>
            <a:custGeom>
              <a:avLst/>
              <a:gdLst/>
              <a:ahLst/>
              <a:cxnLst/>
              <a:rect r="r" b="b" t="t" l="l"/>
              <a:pathLst>
                <a:path h="7919593" w="13543662">
                  <a:moveTo>
                    <a:pt x="0" y="0"/>
                  </a:moveTo>
                  <a:lnTo>
                    <a:pt x="13543662" y="0"/>
                  </a:lnTo>
                  <a:lnTo>
                    <a:pt x="13543662" y="7919593"/>
                  </a:lnTo>
                  <a:lnTo>
                    <a:pt x="0" y="791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0872" y="8693468"/>
            <a:ext cx="10157774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  ARQUITETURA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60872" y="2108597"/>
            <a:ext cx="823603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5.4 PACOTES UTILIZADOS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0872" y="2726293"/>
            <a:ext cx="10432313" cy="36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Quadro 1 – Pacotes do aplicativo e sua função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60871" y="3102238"/>
          <a:ext cx="10409432" cy="5033132"/>
        </p:xfrm>
        <a:graphic>
          <a:graphicData uri="http://schemas.openxmlformats.org/drawingml/2006/table">
            <a:tbl>
              <a:tblPr/>
              <a:tblGrid>
                <a:gridCol w="3492638"/>
                <a:gridCol w="6916794"/>
              </a:tblGrid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Pacote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Função no aplicativo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dio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Cliente HTTP com interceptador de token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go_router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Navegação e redirecionamento por sessão e papel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sqflite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Cache local e fila de sincronização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flutter_secure_storage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Token JWT no Keystore do Android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connectivity_plus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Detecção de conexão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geolocator e geocoding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GPS e endereço aproximado sem chave de API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image_picker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Foto de evidência pela câmera ou pela galeria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fl_chart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Gráficos do painel de indicadores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share_plus e path_provider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Compartilhamento dos relatórios gerados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flutter_dotenv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URL da API por ambiente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960872" y="8271891"/>
            <a:ext cx="10432313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42245" y="3138097"/>
            <a:ext cx="5394598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CONSUMIDO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42245" y="3465290"/>
            <a:ext cx="5394598" cy="111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3.12, Django 5.2, Django REST Framework, SimpleJWT, PostgreSQL 16, MinIO compatível com S3 e Docker Compose.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253" cy="10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  FUNCIONALIDADES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2293" y="2108625"/>
            <a:ext cx="8190452" cy="621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</a:t>
            </a:r>
            <a:r>
              <a:rPr lang="en-US" b="true" sz="21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Riscos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cadastro por unidade, categoria e escalas de probabilidade/impacto</a:t>
            </a:r>
          </a:p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</a:t>
            </a:r>
            <a:r>
              <a:rPr lang="en-US" b="true" sz="21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Planos de ação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estrutura 5W2H, com prazos e progresso</a:t>
            </a:r>
          </a:p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</a:t>
            </a:r>
            <a:r>
              <a:rPr lang="en-US" b="true" sz="21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Monitoramento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acompanhamento com foto de evidência</a:t>
            </a:r>
          </a:p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</a:t>
            </a:r>
            <a:r>
              <a:rPr lang="en-US" b="true" sz="21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Dashboard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indicadores e matriz de risco residual 5×5</a:t>
            </a:r>
          </a:p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e) </a:t>
            </a:r>
            <a:r>
              <a:rPr lang="en-US" b="true" sz="21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Estrutura PDI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desafios, objetivos e macroprocessos</a:t>
            </a:r>
          </a:p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f) </a:t>
            </a:r>
            <a:r>
              <a:rPr lang="en-US" b="true" sz="21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Equipe e administração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gestão de membros, unidades e gestores</a:t>
            </a:r>
          </a:p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g) </a:t>
            </a:r>
            <a:r>
              <a:rPr lang="en-US" b="true" sz="21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Exportações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planilhas e relatórios em Excel e PDF</a:t>
            </a:r>
          </a:p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h) </a:t>
            </a:r>
            <a:r>
              <a:rPr lang="en-US" b="true" sz="21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Segurança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três papéis de acesso, escrita restrita ao próprio setor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29280" y="1978171"/>
            <a:ext cx="5170484" cy="36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Figura 3 – Tela de Login e Tela Inicial dos Riscos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765211" y="2364705"/>
            <a:ext cx="3234033" cy="6994750"/>
            <a:chOff x="0" y="0"/>
            <a:chExt cx="4312044" cy="9326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12031" cy="9326372"/>
            </a:xfrm>
            <a:custGeom>
              <a:avLst/>
              <a:gdLst/>
              <a:ahLst/>
              <a:cxnLst/>
              <a:rect r="r" b="b" t="t" l="l"/>
              <a:pathLst>
                <a:path h="9326372" w="4312031">
                  <a:moveTo>
                    <a:pt x="0" y="0"/>
                  </a:moveTo>
                  <a:lnTo>
                    <a:pt x="4312031" y="0"/>
                  </a:lnTo>
                  <a:lnTo>
                    <a:pt x="4312031" y="9326372"/>
                  </a:lnTo>
                  <a:lnTo>
                    <a:pt x="0" y="9326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632532" y="2364705"/>
            <a:ext cx="3234033" cy="6994750"/>
            <a:chOff x="0" y="0"/>
            <a:chExt cx="4312044" cy="93263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12031" cy="9326372"/>
            </a:xfrm>
            <a:custGeom>
              <a:avLst/>
              <a:gdLst/>
              <a:ahLst/>
              <a:cxnLst/>
              <a:rect r="r" b="b" t="t" l="l"/>
              <a:pathLst>
                <a:path h="9326372" w="4312031">
                  <a:moveTo>
                    <a:pt x="0" y="0"/>
                  </a:moveTo>
                  <a:lnTo>
                    <a:pt x="4312031" y="0"/>
                  </a:lnTo>
                  <a:lnTo>
                    <a:pt x="4312031" y="9326372"/>
                  </a:lnTo>
                  <a:lnTo>
                    <a:pt x="0" y="9326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772355" y="9344235"/>
            <a:ext cx="7087057" cy="29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  IMPLEMENTAÇÃO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118647" y="2177224"/>
            <a:ext cx="617702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7.1 CLIENTE HTTP E SESSÃO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8647" y="2806408"/>
            <a:ext cx="6177029" cy="297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o cliente recebe a URL base do arquivo .env e tempos-limite de conexão e leitura;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o interceptador anexa o cabeçalho Authorization: Bearer a cada requisição;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o token é lido do armazenamento seguro, nunca de variável em memória;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 resposta 401 limpa a sessão e a navegação seguinte cai no login.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872" y="2204676"/>
            <a:ext cx="9608706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6 – Trecho de código: interceptador do cliente HTTP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662980"/>
            <a:ext cx="9608706" cy="4753785"/>
            <a:chOff x="0" y="0"/>
            <a:chExt cx="12811608" cy="6338380"/>
          </a:xfrm>
        </p:grpSpPr>
        <p:sp>
          <p:nvSpPr>
            <p:cNvPr name="Freeform 8" id="8" descr="cod_api_client.png"/>
            <p:cNvSpPr/>
            <p:nvPr/>
          </p:nvSpPr>
          <p:spPr>
            <a:xfrm flipH="false" flipV="false" rot="0">
              <a:off x="0" y="0"/>
              <a:ext cx="12811633" cy="6338316"/>
            </a:xfrm>
            <a:custGeom>
              <a:avLst/>
              <a:gdLst/>
              <a:ahLst/>
              <a:cxnLst/>
              <a:rect r="r" b="b" t="t" l="l"/>
              <a:pathLst>
                <a:path h="6338316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6338316"/>
                  </a:lnTo>
                  <a:lnTo>
                    <a:pt x="0" y="633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0872" y="7507529"/>
            <a:ext cx="9608706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  IMPLEMENTAÇÃO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118647" y="2177224"/>
            <a:ext cx="617702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7.2 SESSÃO SEGURA NO KEYSTORE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8647" y="2806408"/>
            <a:ext cx="6177029" cy="334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o token e os dados do usuário ficam no Keystore do Android;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o JWT tem vida longa e não há renovação: encerrar a sessão é apagar o armazenamento;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a leitura tolera dado cifrado ilegível, situação que ocorre quando a chave do Keystore é recriada ao reinstalar o aplicativo;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sem esse tratamento, a falha de decriptação travava o roteador numa tela preta.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872" y="2204676"/>
            <a:ext cx="9608706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7 – Trecho de código: leitura tolerante do armazenamento seguro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662980"/>
            <a:ext cx="9608706" cy="4500924"/>
            <a:chOff x="0" y="0"/>
            <a:chExt cx="12811608" cy="6001233"/>
          </a:xfrm>
        </p:grpSpPr>
        <p:sp>
          <p:nvSpPr>
            <p:cNvPr name="Freeform 8" id="8" descr="cod_token.png"/>
            <p:cNvSpPr/>
            <p:nvPr/>
          </p:nvSpPr>
          <p:spPr>
            <a:xfrm flipH="false" flipV="false" rot="0">
              <a:off x="0" y="0"/>
              <a:ext cx="12811633" cy="6001258"/>
            </a:xfrm>
            <a:custGeom>
              <a:avLst/>
              <a:gdLst/>
              <a:ahLst/>
              <a:cxnLst/>
              <a:rect r="r" b="b" t="t" l="l"/>
              <a:pathLst>
                <a:path h="6001258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6001258"/>
                  </a:lnTo>
                  <a:lnTo>
                    <a:pt x="0" y="6001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0872" y="7254669"/>
            <a:ext cx="9608706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  IMPLEMENTAÇÃO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118647" y="2177224"/>
            <a:ext cx="617702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7.3 NAVEGAÇÃO E PROTEÇÃO DAS ROTAS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8647" y="2806408"/>
            <a:ext cx="6177029" cy="297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o redirecionamento roda antes de cada navegação e consulta a sessão guardada;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sem token, qualquer rota leva ao login; com token, o login leva à lista de riscos;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as áreas restritas são filtradas por papel: administração exige administrador e equipe exige gestor_adm;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nenhuma exceção pode escapar desse trecho, sob pena de travar o roteador.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872" y="2204676"/>
            <a:ext cx="9608706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8 – Trecho de código: proteção das rotas por sessão e papel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662980"/>
            <a:ext cx="9608706" cy="4500924"/>
            <a:chOff x="0" y="0"/>
            <a:chExt cx="12811608" cy="6001233"/>
          </a:xfrm>
        </p:grpSpPr>
        <p:sp>
          <p:nvSpPr>
            <p:cNvPr name="Freeform 8" id="8" descr="cod_router.png"/>
            <p:cNvSpPr/>
            <p:nvPr/>
          </p:nvSpPr>
          <p:spPr>
            <a:xfrm flipH="false" flipV="false" rot="0">
              <a:off x="0" y="0"/>
              <a:ext cx="12811633" cy="6001258"/>
            </a:xfrm>
            <a:custGeom>
              <a:avLst/>
              <a:gdLst/>
              <a:ahLst/>
              <a:cxnLst/>
              <a:rect r="r" b="b" t="t" l="l"/>
              <a:pathLst>
                <a:path h="6001258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6001258"/>
                  </a:lnTo>
                  <a:lnTo>
                    <a:pt x="0" y="6001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0872" y="7254669"/>
            <a:ext cx="9608706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  IMPLEMENTAÇÃO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118647" y="2177224"/>
            <a:ext cx="617702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7.4 PERMISSÃO ESPELHADA DO BACKEND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8647" y="2806408"/>
            <a:ext cx="6177029" cy="297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a interface reproduz a permissão de escrita aplicada pelo backend;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a escrita só é liberada quando o setor do risco está entre os setores do usuário;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o administrador não recebe exceção, porque o backend também não concede;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o servidor continua sendo a fonte de verdade: a regra local apenas evita a ação que resultaria em erro 403.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872" y="2204676"/>
            <a:ext cx="9608706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9 – Trecho de código: permissão de escrita por setor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662980"/>
            <a:ext cx="9608706" cy="2983754"/>
            <a:chOff x="0" y="0"/>
            <a:chExt cx="12811608" cy="3978338"/>
          </a:xfrm>
        </p:grpSpPr>
        <p:sp>
          <p:nvSpPr>
            <p:cNvPr name="Freeform 8" id="8" descr="cod_role.png"/>
            <p:cNvSpPr/>
            <p:nvPr/>
          </p:nvSpPr>
          <p:spPr>
            <a:xfrm flipH="false" flipV="false" rot="0">
              <a:off x="0" y="0"/>
              <a:ext cx="12811633" cy="3978402"/>
            </a:xfrm>
            <a:custGeom>
              <a:avLst/>
              <a:gdLst/>
              <a:ahLst/>
              <a:cxnLst/>
              <a:rect r="r" b="b" t="t" l="l"/>
              <a:pathLst>
                <a:path h="3978402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3978402"/>
                  </a:lnTo>
                  <a:lnTo>
                    <a:pt x="0" y="3978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0872" y="5737508"/>
            <a:ext cx="9608706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253" cy="10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  MODO OFFLINE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2284" y="2707281"/>
            <a:ext cx="7323010" cy="431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</a:t>
            </a:r>
            <a:r>
              <a:rPr lang="en-US" b="true" sz="24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Leitura local</a:t>
            </a:r>
            <a:r>
              <a:rPr lang="en-US" sz="24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lista, o detalhe e o painel são sempre lidos do banco local (sqlite)</a:t>
            </a:r>
          </a:p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</a:t>
            </a:r>
            <a:r>
              <a:rPr lang="en-US" b="true" sz="24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Escrita otimista</a:t>
            </a:r>
            <a:r>
              <a:rPr lang="en-US" sz="24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alteração aparece de imediato e entra numa fila de envio</a:t>
            </a:r>
          </a:p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</a:t>
            </a:r>
            <a:r>
              <a:rPr lang="en-US" b="true" sz="24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Sincronização incremental</a:t>
            </a:r>
            <a:r>
              <a:rPr lang="en-US" sz="24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 aplicativo baixa apenas os registros alterados desde a última sincronização</a:t>
            </a:r>
          </a:p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</a:t>
            </a:r>
            <a:r>
              <a:rPr lang="en-US" b="true" sz="24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Concorrência otimista</a:t>
            </a:r>
            <a:r>
              <a:rPr lang="en-US" sz="24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uma atualização enviada com versão desatualizada é rejeitada; o servidor prevalece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073648" y="2334682"/>
            <a:ext cx="3247882" cy="7024773"/>
            <a:chOff x="0" y="0"/>
            <a:chExt cx="4330510" cy="93663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30446" cy="9366377"/>
            </a:xfrm>
            <a:custGeom>
              <a:avLst/>
              <a:gdLst/>
              <a:ahLst/>
              <a:cxnLst/>
              <a:rect r="r" b="b" t="t" l="l"/>
              <a:pathLst>
                <a:path h="9366377" w="4330446">
                  <a:moveTo>
                    <a:pt x="0" y="0"/>
                  </a:moveTo>
                  <a:lnTo>
                    <a:pt x="4330446" y="0"/>
                  </a:lnTo>
                  <a:lnTo>
                    <a:pt x="4330446" y="9366377"/>
                  </a:lnTo>
                  <a:lnTo>
                    <a:pt x="0" y="9366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23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048536" y="2334682"/>
            <a:ext cx="3247882" cy="7024773"/>
            <a:chOff x="0" y="0"/>
            <a:chExt cx="4330510" cy="93663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30446" cy="9366377"/>
            </a:xfrm>
            <a:custGeom>
              <a:avLst/>
              <a:gdLst/>
              <a:ahLst/>
              <a:cxnLst/>
              <a:rect r="r" b="b" t="t" l="l"/>
              <a:pathLst>
                <a:path h="9366377" w="4330446">
                  <a:moveTo>
                    <a:pt x="0" y="0"/>
                  </a:moveTo>
                  <a:lnTo>
                    <a:pt x="4330446" y="0"/>
                  </a:lnTo>
                  <a:lnTo>
                    <a:pt x="4330446" y="9366377"/>
                  </a:lnTo>
                  <a:lnTo>
                    <a:pt x="0" y="9366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23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080792" y="1903895"/>
            <a:ext cx="7208472" cy="39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</a:pPr>
            <a:r>
              <a:rPr lang="en-US" sz="1651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Figura 4 – Tela de riscos offline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80792" y="9344235"/>
            <a:ext cx="7208472" cy="29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872" y="2108597"/>
            <a:ext cx="750851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8.1 VISÃO GERAL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  MODO OFFLINE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60872" y="2108597"/>
            <a:ext cx="9608706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8.2 FLUXO DE ALTERAÇÃO E SINCRONIZAÇÃO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774" y="2932195"/>
            <a:ext cx="15923000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10 – Fluxo de uma alteração, do toque do usuário à sincronização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6774" y="3390500"/>
            <a:ext cx="15923000" cy="4193057"/>
            <a:chOff x="0" y="0"/>
            <a:chExt cx="21230666" cy="5590743"/>
          </a:xfrm>
        </p:grpSpPr>
        <p:sp>
          <p:nvSpPr>
            <p:cNvPr name="Freeform 7" id="7" descr="fluxo-sincronizacao.png"/>
            <p:cNvSpPr/>
            <p:nvPr/>
          </p:nvSpPr>
          <p:spPr>
            <a:xfrm flipH="false" flipV="false" rot="0">
              <a:off x="0" y="0"/>
              <a:ext cx="21230717" cy="5590794"/>
            </a:xfrm>
            <a:custGeom>
              <a:avLst/>
              <a:gdLst/>
              <a:ahLst/>
              <a:cxnLst/>
              <a:rect r="r" b="b" t="t" l="l"/>
              <a:pathLst>
                <a:path h="5590794" w="21230717">
                  <a:moveTo>
                    <a:pt x="0" y="0"/>
                  </a:moveTo>
                  <a:lnTo>
                    <a:pt x="21230717" y="0"/>
                  </a:lnTo>
                  <a:lnTo>
                    <a:pt x="21230717" y="5590794"/>
                  </a:lnTo>
                  <a:lnTo>
                    <a:pt x="0" y="5590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6774" y="7674321"/>
            <a:ext cx="15923000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  MODO OFFLINE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118647" y="2177224"/>
            <a:ext cx="617702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8.3 LEITURA: CACHE E REDE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8647" y="2806408"/>
            <a:ext cx="6177029" cy="260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a lista, o detalhe e o painel são lidos do banco local, sempre;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na primeira carga com conexão, a sincronização é aguardada para a tela não aparecer vazia;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sem conexão, o conteúdo em cache é exibido normalmente;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 atualização é disparada ao abrir a tela, no puxar-para-atualizar e ao reconectar.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872" y="2204676"/>
            <a:ext cx="9608706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11 – Trecho de código: leitura a partir do cache local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662980"/>
            <a:ext cx="9608706" cy="3236614"/>
            <a:chOff x="0" y="0"/>
            <a:chExt cx="12811608" cy="4315485"/>
          </a:xfrm>
        </p:grpSpPr>
        <p:sp>
          <p:nvSpPr>
            <p:cNvPr name="Freeform 8" id="8" descr="cod_leitura.png"/>
            <p:cNvSpPr/>
            <p:nvPr/>
          </p:nvSpPr>
          <p:spPr>
            <a:xfrm flipH="false" flipV="false" rot="0">
              <a:off x="0" y="0"/>
              <a:ext cx="12811633" cy="4315460"/>
            </a:xfrm>
            <a:custGeom>
              <a:avLst/>
              <a:gdLst/>
              <a:ahLst/>
              <a:cxnLst/>
              <a:rect r="r" b="b" t="t" l="l"/>
              <a:pathLst>
                <a:path h="4315460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4315460"/>
                  </a:lnTo>
                  <a:lnTo>
                    <a:pt x="0" y="4315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0872" y="5990368"/>
            <a:ext cx="9608706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  MODO OFFLINE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118647" y="2177224"/>
            <a:ext cx="617702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8.4 ESCRITA OTIMISTA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8647" y="2806408"/>
            <a:ext cx="6177029" cy="260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7"/>
              </a:lnSpc>
            </a:pPr>
            <a:r>
              <a:rPr lang="en-US" sz="1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</a:t>
            </a:r>
            <a:r>
              <a:rPr lang="en-US" sz="195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alteração é gravada no cache e enfileirada antes de qualquer envio;</a:t>
            </a:r>
          </a:p>
          <a:p>
            <a:pPr algn="just">
              <a:lnSpc>
                <a:spcPts val="2927"/>
              </a:lnSpc>
            </a:pPr>
            <a:r>
              <a:rPr lang="en-US" sz="1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</a:t>
            </a:r>
            <a:r>
              <a:rPr lang="en-US" sz="195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tela mostra o novo estado de imediato, mesmo sem rede;</a:t>
            </a:r>
          </a:p>
          <a:p>
            <a:pPr algn="just">
              <a:lnSpc>
                <a:spcPts val="2927"/>
              </a:lnSpc>
            </a:pPr>
            <a:r>
              <a:rPr lang="en-US" sz="1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</a:t>
            </a:r>
            <a:r>
              <a:rPr lang="en-US" sz="195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registros criados sem conexão recebem chave temporária, trocada pelo identificador real depois do envio;</a:t>
            </a:r>
          </a:p>
          <a:p>
            <a:pPr algn="just">
              <a:lnSpc>
                <a:spcPts val="2927"/>
              </a:lnSpc>
            </a:pPr>
            <a:r>
              <a:rPr lang="en-US" sz="1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</a:t>
            </a:r>
            <a:r>
              <a:rPr lang="en-US" sz="195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identificador temporário é negativo, o que impede colisão com os do servidor.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872" y="2204676"/>
            <a:ext cx="9608706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12 – Trecho de código: escrita otimista e fila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662980"/>
            <a:ext cx="9608706" cy="3742334"/>
            <a:chOff x="0" y="0"/>
            <a:chExt cx="12811608" cy="4989779"/>
          </a:xfrm>
        </p:grpSpPr>
        <p:sp>
          <p:nvSpPr>
            <p:cNvPr name="Freeform 8" id="8" descr="cod_escrita.png"/>
            <p:cNvSpPr/>
            <p:nvPr/>
          </p:nvSpPr>
          <p:spPr>
            <a:xfrm flipH="false" flipV="false" rot="0">
              <a:off x="0" y="0"/>
              <a:ext cx="12811633" cy="4989830"/>
            </a:xfrm>
            <a:custGeom>
              <a:avLst/>
              <a:gdLst/>
              <a:ahLst/>
              <a:cxnLst/>
              <a:rect r="r" b="b" t="t" l="l"/>
              <a:pathLst>
                <a:path h="4989830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4989830"/>
                  </a:lnTo>
                  <a:lnTo>
                    <a:pt x="0" y="4989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0872" y="6496088"/>
            <a:ext cx="9608706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  MODO OFFLINE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118647" y="2177224"/>
            <a:ext cx="617702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8.5 CONFLITO E REENVIO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8647" y="2806408"/>
            <a:ext cx="6177029" cy="297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o envio percorre a fila na ordem em que as alterações foram feitas;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a resposta 409 indica versão desatualizada: o servidor prevalece e o cache é sobrescrito com a versão dele;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a recusa definitiva (4xx) descarta o item, porque repetir não mudaria o resultado;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falha de rede ou 5xx mantém o item na fila para a tentativa seguinte.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872" y="2204676"/>
            <a:ext cx="9608706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13 – Trecho de código: resolução de conflito na sincronização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662980"/>
            <a:ext cx="9608706" cy="4753785"/>
            <a:chOff x="0" y="0"/>
            <a:chExt cx="12811608" cy="6338380"/>
          </a:xfrm>
        </p:grpSpPr>
        <p:sp>
          <p:nvSpPr>
            <p:cNvPr name="Freeform 8" id="8" descr="cod_conflito.png"/>
            <p:cNvSpPr/>
            <p:nvPr/>
          </p:nvSpPr>
          <p:spPr>
            <a:xfrm flipH="false" flipV="false" rot="0">
              <a:off x="0" y="0"/>
              <a:ext cx="12811633" cy="6338316"/>
            </a:xfrm>
            <a:custGeom>
              <a:avLst/>
              <a:gdLst/>
              <a:ahLst/>
              <a:cxnLst/>
              <a:rect r="r" b="b" t="t" l="l"/>
              <a:pathLst>
                <a:path h="6338316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6338316"/>
                  </a:lnTo>
                  <a:lnTo>
                    <a:pt x="0" y="633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0872" y="7507529"/>
            <a:ext cx="9608706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253" cy="10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  RECURSO NATIVO — GPS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2293" y="2707281"/>
            <a:ext cx="8371580" cy="3226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3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selecionar “Usar localização atual”, o aplicativo aciona o GPS do aparelho, solicita a permissão de localização e resolve o endereço aproximado por meio do geocodificador nativo do sistema operacional, sem uso de chave de API externa. O risco passa a registrar coordenadas e um atalho que abre o aplicativo de mapas do sistema.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293" y="6239399"/>
            <a:ext cx="8293217" cy="111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A captura é opcional e não impede o cadastro do risco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As coordenadas e o endereço seguem o mesmo fluxo de sincronização offline dos demais campos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069498" y="2334682"/>
            <a:ext cx="3247882" cy="7024773"/>
            <a:chOff x="0" y="0"/>
            <a:chExt cx="4330510" cy="93663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0446" cy="9366377"/>
            </a:xfrm>
            <a:custGeom>
              <a:avLst/>
              <a:gdLst/>
              <a:ahLst/>
              <a:cxnLst/>
              <a:rect r="r" b="b" t="t" l="l"/>
              <a:pathLst>
                <a:path h="9366377" w="4330446">
                  <a:moveTo>
                    <a:pt x="0" y="0"/>
                  </a:moveTo>
                  <a:lnTo>
                    <a:pt x="4330446" y="0"/>
                  </a:lnTo>
                  <a:lnTo>
                    <a:pt x="4330446" y="9366377"/>
                  </a:lnTo>
                  <a:lnTo>
                    <a:pt x="0" y="9366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23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076642" y="1903895"/>
            <a:ext cx="3233585" cy="39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</a:pPr>
            <a:r>
              <a:rPr lang="en-US" sz="1651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Figura 5 – Localização via GPS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76642" y="9344235"/>
            <a:ext cx="3233585" cy="29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872" y="2108597"/>
            <a:ext cx="7686961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9.1 PERMISSÃO E DADOS REGISTRADOS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  RECURSO NATIVO — GPS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118647" y="2177224"/>
            <a:ext cx="617702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9.2 CAPTURA DA LOCALIZAÇÃO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8647" y="2806408"/>
            <a:ext cx="6177029" cy="260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confere se o serviço de localização do aparelho está ligado;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solicita a permissão em tempo de execução, apenas no momento do uso;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trata a permissão negada e a negada permanentemente com mensagem própria;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lê a posição com alta precisão e resolve o endereço pelo geocodificador nativo, sem chave de API externa.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872" y="2204676"/>
            <a:ext cx="9608706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14 – Trecho de código: captura da localização com permissão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662980"/>
            <a:ext cx="9608706" cy="4248055"/>
            <a:chOff x="0" y="0"/>
            <a:chExt cx="12811608" cy="5664073"/>
          </a:xfrm>
        </p:grpSpPr>
        <p:sp>
          <p:nvSpPr>
            <p:cNvPr name="Freeform 8" id="8" descr="cod_gps.png"/>
            <p:cNvSpPr/>
            <p:nvPr/>
          </p:nvSpPr>
          <p:spPr>
            <a:xfrm flipH="false" flipV="false" rot="0">
              <a:off x="0" y="0"/>
              <a:ext cx="12811633" cy="5664073"/>
            </a:xfrm>
            <a:custGeom>
              <a:avLst/>
              <a:gdLst/>
              <a:ahLst/>
              <a:cxnLst/>
              <a:rect r="r" b="b" t="t" l="l"/>
              <a:pathLst>
                <a:path h="5664073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5664073"/>
                  </a:lnTo>
                  <a:lnTo>
                    <a:pt x="0" y="5664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0872" y="7001808"/>
            <a:ext cx="9608706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253" cy="10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  RECURSO NATIVO — CÂMERA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2284" y="2726331"/>
            <a:ext cx="7326316" cy="235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momento da verificação, o gestor registra a situação real do local. A imagem pode vir da câmera, tirada na hora, ou da galeria do aparelho, quando a foto já havia sido feita durante a inspeção. O arquivo é enviado por multipart/form-data a um repositório de objetos compatível com S3 (MinIO).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293" y="5322922"/>
            <a:ext cx="7326316" cy="148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a foto é opcional, no máximo uma por monitoramento;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funciona sem conexão: o arquivo fica no aparelho e sobe junto com o monitoramento quando a rede volta;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a imagem é reduzida no próprio aparelho antes do envio.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47918" y="2334682"/>
            <a:ext cx="3247882" cy="7024773"/>
            <a:chOff x="0" y="0"/>
            <a:chExt cx="4330510" cy="93663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0446" cy="9366377"/>
            </a:xfrm>
            <a:custGeom>
              <a:avLst/>
              <a:gdLst/>
              <a:ahLst/>
              <a:cxnLst/>
              <a:rect r="r" b="b" t="t" l="l"/>
              <a:pathLst>
                <a:path h="9366377" w="4330446">
                  <a:moveTo>
                    <a:pt x="0" y="0"/>
                  </a:moveTo>
                  <a:lnTo>
                    <a:pt x="4330446" y="0"/>
                  </a:lnTo>
                  <a:lnTo>
                    <a:pt x="4330446" y="9366377"/>
                  </a:lnTo>
                  <a:lnTo>
                    <a:pt x="0" y="9366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23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22815" y="2334682"/>
            <a:ext cx="3247882" cy="7024773"/>
            <a:chOff x="0" y="0"/>
            <a:chExt cx="4330510" cy="93663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30446" cy="9366377"/>
            </a:xfrm>
            <a:custGeom>
              <a:avLst/>
              <a:gdLst/>
              <a:ahLst/>
              <a:cxnLst/>
              <a:rect r="r" b="b" t="t" l="l"/>
              <a:pathLst>
                <a:path h="9366377" w="4330446">
                  <a:moveTo>
                    <a:pt x="0" y="0"/>
                  </a:moveTo>
                  <a:lnTo>
                    <a:pt x="4330446" y="0"/>
                  </a:lnTo>
                  <a:lnTo>
                    <a:pt x="4330446" y="9366377"/>
                  </a:lnTo>
                  <a:lnTo>
                    <a:pt x="0" y="9366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23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23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955072" y="1903895"/>
            <a:ext cx="7208472" cy="39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</a:pPr>
            <a:r>
              <a:rPr lang="en-US" sz="1651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Figura 6 – Captura de foto de evidência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55072" y="9344235"/>
            <a:ext cx="7208472" cy="29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872" y="2108597"/>
            <a:ext cx="7686961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10.1 FOTO DE EVIDÊNCIA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  RECURSO NATIVO — CÂMERA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118647" y="2177224"/>
            <a:ext cx="6177029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10.2 CAPTURA E ENVIO DA FOTO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8647" y="2806408"/>
            <a:ext cx="6177029" cy="260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a origem da imagem é escolhida pelo usuário: câmera ou galeria;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a foto é reduzida no próprio aparelho antes do envio;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o arquivo é copiado para o diretório do aplicativo e sobrevive ao fechamento antes da sincronização;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o envio ocorre por multipart/form-data junto com o monitoramento.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872" y="2204676"/>
            <a:ext cx="9608706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15 – Trecho de código: captura da foto de evidência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662980"/>
            <a:ext cx="9608706" cy="5006645"/>
            <a:chOff x="0" y="0"/>
            <a:chExt cx="12811608" cy="6675526"/>
          </a:xfrm>
        </p:grpSpPr>
        <p:sp>
          <p:nvSpPr>
            <p:cNvPr name="Freeform 8" id="8" descr="cod_camera.png"/>
            <p:cNvSpPr/>
            <p:nvPr/>
          </p:nvSpPr>
          <p:spPr>
            <a:xfrm flipH="false" flipV="false" rot="0">
              <a:off x="0" y="0"/>
              <a:ext cx="12811633" cy="6675501"/>
            </a:xfrm>
            <a:custGeom>
              <a:avLst/>
              <a:gdLst/>
              <a:ahLst/>
              <a:cxnLst/>
              <a:rect r="r" b="b" t="t" l="l"/>
              <a:pathLst>
                <a:path h="6675501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6675501"/>
                  </a:lnTo>
                  <a:lnTo>
                    <a:pt x="0" y="6675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0872" y="7760389"/>
            <a:ext cx="9608706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3" r="0" b="-7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253" cy="10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  SEGURANÇA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51334" y="2964418"/>
          <a:ext cx="12258727" cy="2821604"/>
        </p:xfrm>
        <a:graphic>
          <a:graphicData uri="http://schemas.openxmlformats.org/drawingml/2006/table">
            <a:tbl>
              <a:tblPr/>
              <a:tblGrid>
                <a:gridCol w="2181660"/>
                <a:gridCol w="10077067"/>
              </a:tblGrid>
              <a:tr h="714263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12"/>
                        </a:lnSpc>
                        <a:defRPr/>
                      </a:pPr>
                      <a:r>
                        <a:rPr lang="en-US" b="true" sz="195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Papel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12"/>
                        </a:lnSpc>
                        <a:defRPr/>
                      </a:pPr>
                      <a:r>
                        <a:rPr lang="en-US" b="true" sz="195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Permissões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97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12"/>
                        </a:lnSpc>
                        <a:defRPr/>
                      </a:pPr>
                      <a:r>
                        <a:rPr lang="en-US" b="true" sz="195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admin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12"/>
                        </a:lnSpc>
                        <a:defRPr/>
                      </a:pPr>
                      <a:r>
                        <a:rPr lang="en-US" sz="195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Acesso irrestrito: cadastro de gestores, gestão de unidades, estrutura do PDI, registros inativos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53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12"/>
                        </a:lnSpc>
                        <a:defRPr/>
                      </a:pPr>
                      <a:r>
                        <a:rPr lang="en-US" b="true" sz="195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gestor_adm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12"/>
                        </a:lnSpc>
                        <a:defRPr/>
                      </a:pPr>
                      <a:r>
                        <a:rPr lang="en-US" sz="195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Tudo o que o gestor faz, além de gerenciar os membros das equipes das próprias unidades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83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12"/>
                        </a:lnSpc>
                        <a:defRPr/>
                      </a:pPr>
                      <a:r>
                        <a:rPr lang="en-US" b="true" sz="195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gestor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12"/>
                        </a:lnSpc>
                        <a:defRPr/>
                      </a:pPr>
                      <a:r>
                        <a:rPr lang="en-US" sz="195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CRUD de riscos apenas nas unidades às quais está vinculado; leitura ampla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42747" y="6365613"/>
            <a:ext cx="9878463" cy="148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Sessão: token guardado de forma segura no dispositivo (Keystore do Android)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Sem token: requisição recusada (401); autenticado sem o papel exigido (403)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Recuperação de senha: código de 6 dígitos, válido por 1 minuto, de uso único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Sem oráculo: código errado, expirado ou já usado retornam a mesma mensagem genérica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25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1334" y="2580968"/>
            <a:ext cx="10791177" cy="32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501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Quadro 2 – Perfis de acesso e permissões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1336" y="5954124"/>
            <a:ext cx="10791177" cy="29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336" y="1954105"/>
            <a:ext cx="590249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11.1 PERFIS E SESSÃO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253" cy="10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  QUALIDADE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2293" y="2716806"/>
            <a:ext cx="7229580" cy="254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3"/>
              </a:lnSpc>
            </a:pPr>
            <a:r>
              <a:rPr lang="en-US" sz="22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214 testes no backend (pytest, 87% de cobertura de linha) e 82 testes no aplicativo mobile (flutter test), cobrindo a matriz de autorização, invariantes de domínio, casos de borda, regressão dos problemas de sincronização já corrigidos, captura de GPS e envio de foto por multipart.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26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60872" y="2108597"/>
            <a:ext cx="7686961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12.1 TESTES AUTOMATIZADOS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85108" y="2177224"/>
            <a:ext cx="8551745" cy="36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Quadro 3 – Testes automatizados do aplicativo por área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785103" y="2553171"/>
          <a:ext cx="8541073" cy="5033132"/>
        </p:xfrm>
        <a:graphic>
          <a:graphicData uri="http://schemas.openxmlformats.org/drawingml/2006/table">
            <a:tbl>
              <a:tblPr/>
              <a:tblGrid>
                <a:gridCol w="6854794"/>
                <a:gridCol w="1686279"/>
              </a:tblGrid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Área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Testes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Domínio do risco e cálculo de níveis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Mensagens de erro da API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Cache e fila de sincronização (SQLite)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 de sincronização e conflito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Papéis e permissão por setor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GPS e geocodificação reversa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Painel e analítica offline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Paginação e exportação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Telas e componentes compartilhados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5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8785108" y="7722822"/>
            <a:ext cx="8551745" cy="27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  QUALIDADE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60872" y="2108597"/>
            <a:ext cx="960870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2"/>
              </a:lnSpc>
            </a:pPr>
            <a:r>
              <a:rPr lang="en-US" sz="22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12.2 CRITÉRIOS DE 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0872" y="2806408"/>
            <a:ext cx="16375980" cy="223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</a:t>
            </a:r>
            <a:r>
              <a:rPr lang="en-US" b="true" sz="1951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Motivação clara de mobile</a:t>
            </a: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operação em campo, no local em que o risco é identificado, sem depender de um computador;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</a:t>
            </a:r>
            <a:r>
              <a:rPr lang="en-US" b="true" sz="1951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Armazenamento offline</a:t>
            </a: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cache local em SQLite, com fila de sincronização e resolução de conflito;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</a:t>
            </a:r>
            <a:r>
              <a:rPr lang="en-US" b="true" sz="1951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Envio a servidor web</a:t>
            </a: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API REST em Django, com envio e reconciliação automáticos;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</a:t>
            </a:r>
            <a:r>
              <a:rPr lang="en-US" b="true" sz="1951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Autenticação com API REST</a:t>
            </a: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JWT emitido pelo backend, associado ao SIAPE do usuário e guardado no Keystore;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e) </a:t>
            </a:r>
            <a:r>
              <a:rPr lang="en-US" b="true" sz="1951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Recursos nativos do aparelho</a:t>
            </a: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GPS com geocodificação reversa e câmera — dois recursos, não apenas um;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f) </a:t>
            </a:r>
            <a:r>
              <a:rPr lang="en-US" b="true" sz="1951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Qualidade verificável</a:t>
            </a: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296 testes automatizados no total, sendo 82 no aplicativo.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13" r="0" b="-72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253" cy="10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13  DEMONSTRAÇÃO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73389" y="1780634"/>
            <a:ext cx="8053187" cy="925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Roteiro da demonstração, com a massa de dados criada pelo seed do backend: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95877" y="2724331"/>
            <a:ext cx="6359100" cy="3583248"/>
            <a:chOff x="0" y="0"/>
            <a:chExt cx="8478799" cy="4777664"/>
          </a:xfrm>
        </p:grpSpPr>
        <p:sp>
          <p:nvSpPr>
            <p:cNvPr name="Freeform 6" id="6">
              <a:hlinkClick r:id="rId3" tooltip="http://www.youtube.com/watch?v=RlIhW3jaSik"/>
            </p:cNvPr>
            <p:cNvSpPr/>
            <p:nvPr/>
          </p:nvSpPr>
          <p:spPr>
            <a:xfrm flipH="false" flipV="false" rot="0">
              <a:off x="0" y="0"/>
              <a:ext cx="8478774" cy="4777613"/>
            </a:xfrm>
            <a:custGeom>
              <a:avLst/>
              <a:gdLst/>
              <a:ahLst/>
              <a:cxnLst/>
              <a:rect r="r" b="b" t="t" l="l"/>
              <a:pathLst>
                <a:path h="4777613" w="8478774">
                  <a:moveTo>
                    <a:pt x="0" y="0"/>
                  </a:moveTo>
                  <a:lnTo>
                    <a:pt x="8478774" y="0"/>
                  </a:lnTo>
                  <a:lnTo>
                    <a:pt x="8478774" y="4777613"/>
                  </a:lnTo>
                  <a:lnTo>
                    <a:pt x="0" y="4777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7" t="0" r="-87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28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503030" y="2194350"/>
            <a:ext cx="6344793" cy="39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</a:pPr>
            <a:r>
              <a:rPr lang="en-US" sz="1651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Figura 7 – Captura do vídeo demonstrativo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03030" y="6302073"/>
            <a:ext cx="6344793" cy="29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5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Elaborado pelo autor (2026).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2806408"/>
            <a:ext cx="7252065" cy="260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autenticar com SIAPE e senha e receber o token;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cadastrar um risco e capturar a localização por GPS;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registrar um monitoramento com foto de evidência;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ativar o modo avião e seguir consultando pelo cache;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e) alterar um risco sem conexão e ver a pendência na barra de status;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f) restabelecer a conexão e acompanhar a sincronização automática;</a:t>
            </a:r>
          </a:p>
          <a:p>
            <a:pPr algn="just" marL="0" indent="0" lvl="0">
              <a:lnSpc>
                <a:spcPts val="2927"/>
              </a:lnSpc>
              <a:spcBef>
                <a:spcPct val="0"/>
              </a:spcBef>
            </a:pPr>
            <a:r>
              <a:rPr lang="en-US" sz="1951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g) exportar a lista filtrada em Excel ou PDF e compartilhar.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293" y="572072"/>
            <a:ext cx="16197253" cy="10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5"/>
              </a:lnSpc>
            </a:pPr>
            <a:r>
              <a:rPr lang="en-US" b="true" sz="36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14  CONSIDERAÇÕES FINAIS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51328" y="1848345"/>
            <a:ext cx="1639917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2293" y="2099100"/>
            <a:ext cx="9837477" cy="202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3"/>
              </a:lnSpc>
            </a:pPr>
            <a:r>
              <a:rPr lang="en-US" sz="225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aplicativo leva a gestão de risco para o campo reaproveitando a API do sistema web, sem duplicar regra de negócio, opera sem conexão com sincronização confiável e emprega dois recursos nativos do aparelho — GPS e câmera — aplicados onde fazem sentido no domínio do problema, e não como itens isolados de um requisito.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293" y="4716704"/>
            <a:ext cx="9837477" cy="44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2"/>
              </a:lnSpc>
            </a:pPr>
            <a:r>
              <a:rPr lang="en-US" b="true" sz="210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 que pode ser implementado futuramente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5805" y="5441775"/>
            <a:ext cx="9837477" cy="151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3"/>
              </a:lnSpc>
            </a:pPr>
            <a:r>
              <a:rPr lang="en-US" sz="22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Notificações push para prazos de plano de ação</a:t>
            </a:r>
          </a:p>
          <a:p>
            <a:pPr algn="just">
              <a:lnSpc>
                <a:spcPts val="4053"/>
              </a:lnSpc>
            </a:pPr>
            <a:r>
              <a:rPr lang="en-US" sz="22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Sincronização em segundo plano, sem depender do aplicativo aberto</a:t>
            </a:r>
          </a:p>
          <a:p>
            <a:pPr algn="just">
              <a:lnSpc>
                <a:spcPts val="4053"/>
              </a:lnSpc>
            </a:pPr>
            <a:r>
              <a:rPr lang="en-US" sz="22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Mapa de calor dos riscos georreferenciados no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53244" y="2108625"/>
            <a:ext cx="5719639" cy="86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web original: </a:t>
            </a:r>
          </a:p>
          <a:p>
            <a:pPr algn="just">
              <a:lnSpc>
                <a:spcPts val="3782"/>
              </a:lnSpc>
            </a:pPr>
            <a:r>
              <a:rPr lang="en-US" sz="2101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3" tooltip="https://github.com/matheuskotayko/gestao-riscos-ufsm"/>
              </a:rPr>
              <a:t>https://github.com/matheuskotayko/gestao-riscos-ufsm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53244" y="3412665"/>
            <a:ext cx="5719639" cy="86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Aplicativo mobile: </a:t>
            </a:r>
          </a:p>
          <a:p>
            <a:pPr algn="just">
              <a:lnSpc>
                <a:spcPts val="3782"/>
              </a:lnSpc>
            </a:pPr>
            <a:r>
              <a:rPr lang="en-US" sz="2101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4" tooltip="https://github.com/matheuskotayko/gestao-riscos-mobile"/>
              </a:rPr>
              <a:t>https://github.com/matheuskotayko/gestao-riscos-mobile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53244" y="4716704"/>
            <a:ext cx="5719639" cy="86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2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Registro institucional: </a:t>
            </a:r>
          </a:p>
          <a:p>
            <a:pPr algn="just">
              <a:lnSpc>
                <a:spcPts val="3782"/>
              </a:lnSpc>
            </a:pPr>
            <a:r>
              <a:rPr lang="en-US" sz="2101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5" tooltip="https://portal.ufsm.br/projetos/publico/projetos/view.html?idProjeto=429407"/>
              </a:rPr>
              <a:t>https://portal.ufsm.br/projetos/publico/projetos/view.html?idProjeto=429407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5532" y="9657045"/>
            <a:ext cx="1937814" cy="292732"/>
            <a:chOff x="0" y="0"/>
            <a:chExt cx="2583752" cy="3903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3815" cy="390271"/>
            </a:xfrm>
            <a:custGeom>
              <a:avLst/>
              <a:gdLst/>
              <a:ahLst/>
              <a:cxnLst/>
              <a:rect r="r" b="b" t="t" l="l"/>
              <a:pathLst>
                <a:path h="390271" w="2583815">
                  <a:moveTo>
                    <a:pt x="0" y="0"/>
                  </a:moveTo>
                  <a:lnTo>
                    <a:pt x="2583815" y="0"/>
                  </a:lnTo>
                  <a:lnTo>
                    <a:pt x="2583815" y="390271"/>
                  </a:lnTo>
                  <a:lnTo>
                    <a:pt x="0" y="3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-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75462" y="9604505"/>
            <a:ext cx="1050817" cy="390306"/>
            <a:chOff x="0" y="0"/>
            <a:chExt cx="1401089" cy="520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1095" cy="520407"/>
            </a:xfrm>
            <a:custGeom>
              <a:avLst/>
              <a:gdLst/>
              <a:ahLst/>
              <a:cxnLst/>
              <a:rect r="r" b="b" t="t" l="l"/>
              <a:pathLst>
                <a:path h="520407" w="1401095">
                  <a:moveTo>
                    <a:pt x="0" y="0"/>
                  </a:moveTo>
                  <a:lnTo>
                    <a:pt x="1401095" y="0"/>
                  </a:lnTo>
                  <a:lnTo>
                    <a:pt x="1401095" y="520407"/>
                  </a:lnTo>
                  <a:lnTo>
                    <a:pt x="0" y="5204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401089" cy="539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29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726396"/>
            <a:ext cx="16375980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REFERÊNCIAS</a:t>
            </a:r>
          </a:p>
        </p:txBody>
      </p:sp>
      <p:sp>
        <p:nvSpPr>
          <p:cNvPr name="AutoShape 3" id="3"/>
          <p:cNvSpPr/>
          <p:nvPr/>
        </p:nvSpPr>
        <p:spPr>
          <a:xfrm rot="6000">
            <a:off x="946556" y="1843583"/>
            <a:ext cx="1640460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60872" y="2314489"/>
            <a:ext cx="16375980" cy="660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ASSOCIAÇÃO BRASILEIRA DE NORMAS TÉCNICAS. 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ABNT NBR ISO 31000: gestão de riscos — diretrizes. Rio de Janeiro: ABNT, 2018.</a:t>
            </a:r>
          </a:p>
          <a:p>
            <a:pPr algn="just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CHEN, P. P. 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entity-relationship model: toward a unified view of data. ACM Transactions on Database Systems, New York, v. 1, n. 1, p. 9-36, mar. 1976.</a:t>
            </a:r>
          </a:p>
          <a:p>
            <a:pPr algn="just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GOOGLE. 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Offline-first support. Flutter documentation. [S. l.], 2026a. Disponível em: https://docs.flutter.dev/app-architecture/design-patterns/offline-first. Acesso em: 21 set. 2026.</a:t>
            </a:r>
          </a:p>
          <a:p>
            <a:pPr algn="just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GOOGLE. 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location permissions. Android Developers. [S. l.], 2026b. Disponível em: https://developer.android.com/develop/sensors-and-location/location/permissions. Acesso em: 21 set. 2026.</a:t>
            </a:r>
          </a:p>
          <a:p>
            <a:pPr algn="just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UNIVERSIDADE FEDERAL DE SANTA MARIA. </a:t>
            </a:r>
            <a:r>
              <a:rPr lang="en-US" sz="2101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Plano de Desenvolvimento Institucional 2016-2026. Santa Maria: UFSM, 2016. Disponível em: https://www.ufsm.br/pdi. Acesso em: 21 set. 2026.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72608" y="9663617"/>
            <a:ext cx="1935470" cy="288265"/>
            <a:chOff x="0" y="0"/>
            <a:chExt cx="2580627" cy="384353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580640" cy="384302"/>
            </a:xfrm>
            <a:custGeom>
              <a:avLst/>
              <a:gdLst/>
              <a:ahLst/>
              <a:cxnLst/>
              <a:rect r="r" b="b" t="t" l="l"/>
              <a:pathLst>
                <a:path h="384302" w="2580640">
                  <a:moveTo>
                    <a:pt x="0" y="0"/>
                  </a:moveTo>
                  <a:lnTo>
                    <a:pt x="2580640" y="0"/>
                  </a:lnTo>
                  <a:lnTo>
                    <a:pt x="2580640" y="384302"/>
                  </a:lnTo>
                  <a:lnTo>
                    <a:pt x="0" y="38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13" r="0" b="-7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581882" y="9589656"/>
            <a:ext cx="1056961" cy="4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DAHV2aEMc_8</dc:identifier>
  <dcterms:modified xsi:type="dcterms:W3CDTF">2011-08-01T06:04:30Z</dcterms:modified>
  <cp:revision>1</cp:revision>
  <dc:title>Gestao_Risco_Mobile_Apresentacao_ABNT.pptx</dc:title>
</cp:coreProperties>
</file>